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SYNTHÈSE — SPELC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de suivi des élections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professionnelles CCM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interne du Spelc pour le suivi des élections professionnelles 2026 : scrutin national CCMMEP et scrutins académiques locaux — participation, adhérents, relances, documents partagés et assistant IA.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utilisateurs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4297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4297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4297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 de scrutin (3 → 10 déc.)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Décembre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plateforme, trois profils, un seul socle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couvre le cycle complet du scrutin : import quotidien des fichiers d'émargement JSON, tableaux de bord de participation (national, académique, par Spelc), gestion des adhérents, et relances mail/SMS via Brevo — y compris pour les Présidents de Section (PSA) simulés avant le jour J.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73152" cy="713232"/>
          </a:xfrm>
          <a:prstGeom prst="roundRect">
            <a:avLst>
              <a:gd name="adj" fmla="val 50000"/>
            </a:avLst>
          </a:prstGeom>
          <a:solidFill>
            <a:srgbClr val="B523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304495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quotidien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37560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JSON d'émargement (national + académiques), cumulatifs par nature.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904488"/>
            <a:ext cx="73152" cy="713232"/>
          </a:xfrm>
          <a:prstGeom prst="roundRect">
            <a:avLst>
              <a:gd name="adj" fmla="val 50000"/>
            </a:avLst>
          </a:prstGeom>
          <a:solidFill>
            <a:srgbClr val="B523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388620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178808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en temps réel — national, académique, par Spelc.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45736"/>
            <a:ext cx="73152" cy="713232"/>
          </a:xfrm>
          <a:prstGeom prst="roundRect">
            <a:avLst>
              <a:gd name="adj" fmla="val 50000"/>
            </a:avLst>
          </a:prstGeom>
          <a:solidFill>
            <a:srgbClr val="B523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472744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Adhérents &amp; relances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5020056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listes, campagnes mail/SMS via Brevo, mode test dédié.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586984"/>
            <a:ext cx="73152" cy="713232"/>
          </a:xfrm>
          <a:prstGeom prst="roundRect">
            <a:avLst>
              <a:gd name="adj" fmla="val 50000"/>
            </a:avLst>
          </a:prstGeom>
          <a:solidFill>
            <a:srgbClr val="B523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556869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Assistant IA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586130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de documents partagée et assistant conversationnel Mistral.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1417320"/>
            <a:ext cx="3931920" cy="4663440"/>
          </a:xfrm>
          <a:prstGeom prst="roundRect">
            <a:avLst>
              <a:gd name="adj" fmla="val 1860"/>
            </a:avLst>
          </a:prstGeom>
          <a:solidFill>
            <a:srgbClr val="EEF1F8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PROFILS D'ADMINISTRATEUR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63840" y="205740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1040" y="2029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général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national — CCMMEP, comptes, référentiels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63840" y="342900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104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académique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703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local — imports 1D/2D, tableaux académiques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4800600"/>
            <a:ext cx="310896" cy="31089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4773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Spelc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074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Adhérents &amp; relances — campagnes, suivi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suivi des élections professionnelles CCM — Spelc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partagés &amp; Assistant 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5564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Documents — arborescence partagée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21408"/>
            <a:ext cx="47914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 et documents organisés en arborescence, déposés par l'admin général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copie physique en base, jamais dupliquée par académie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dossiers nommés, à n'importe quel niveau de l'arborescence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d'un dossier avec message d'avertissement (contenu supprimé définitivement)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 toute l'arborescence en une archive zip (dossiers + fichiers)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d'une archive zip : sa structure est reproduite à la racine de l'arborescence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pour les académies — même arborescence, toujours à jour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73952" y="1755648"/>
            <a:ext cx="4791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Assistant IA — function calling (Mistral)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73952" y="2121408"/>
            <a:ext cx="4791456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en langage naturel sur les données de participation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RAG vectoriel : le modèle choisit parmi des outils SQL prédéfinis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hallucination possible — les chiffres viennent toujours des mêmes requêtes que les tableaux de bord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forcé côté serveur selon le rôle (jamais confié au modèle)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général : accès national complet · Admin académique : sa seule académie · Admin Spelc : son seul Spelc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API Mistral configurée une fois, chiffrée en base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Assistant IA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suivi des élections professionnelles CCM — Spelc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fait tourner l'application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npm workspaces, TypeScript de bout en bout, déploiement Docker sur un unique serveur.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9456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2451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45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" y="2880360"/>
            <a:ext cx="726034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880360"/>
            <a:ext cx="726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31874" y="2880360"/>
            <a:ext cx="726034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731874" y="2880360"/>
            <a:ext cx="726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7635" y="2880360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567635" y="28803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" y="3246120"/>
            <a:ext cx="1250899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246120"/>
            <a:ext cx="12508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better-sqlite3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56739" y="3246120"/>
            <a:ext cx="426110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56739" y="3246120"/>
            <a:ext cx="4261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92578" y="3246120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792578" y="324612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96112" y="3611880"/>
            <a:ext cx="726034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3611880"/>
            <a:ext cx="7260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exceljs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31874" y="3611880"/>
            <a:ext cx="651053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731874" y="3611880"/>
            <a:ext cx="6510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92654" y="3611880"/>
            <a:ext cx="1025957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492654" y="3611880"/>
            <a:ext cx="10259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" y="3977640"/>
            <a:ext cx="426110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96112" y="3977640"/>
            <a:ext cx="4261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431950" y="3977640"/>
            <a:ext cx="651053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431950" y="3977640"/>
            <a:ext cx="6510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0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45152" y="219456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0D726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645152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45152" y="2880360"/>
            <a:ext cx="801014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45152" y="2880360"/>
            <a:ext cx="80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19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55894" y="2880360"/>
            <a:ext cx="950976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555894" y="2880360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16598" y="2880360"/>
            <a:ext cx="501091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616598" y="2880360"/>
            <a:ext cx="5010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45152" y="3246120"/>
            <a:ext cx="1250899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645152" y="3246120"/>
            <a:ext cx="12508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Router 7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05779" y="3246120"/>
            <a:ext cx="1250899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005779" y="3246120"/>
            <a:ext cx="12508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 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45152" y="3611880"/>
            <a:ext cx="801014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645152" y="3611880"/>
            <a:ext cx="80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55894" y="3611880"/>
            <a:ext cx="651053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555894" y="3611880"/>
            <a:ext cx="6510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oxlint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138160" y="196596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6213E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394192" y="219456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87397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394192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73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394192" y="2880360"/>
            <a:ext cx="1250899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394192" y="2880360"/>
            <a:ext cx="12508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754819" y="2880360"/>
            <a:ext cx="576072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754819" y="2880360"/>
            <a:ext cx="576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394192" y="3246120"/>
            <a:ext cx="1025957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394192" y="3246120"/>
            <a:ext cx="10259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mock-portal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529877" y="3246120"/>
            <a:ext cx="875995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529877" y="3246120"/>
            <a:ext cx="8759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Brevo API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394192" y="3611880"/>
            <a:ext cx="1100938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394192" y="3611880"/>
            <a:ext cx="11009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HostPapa VPS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9604858" y="3611880"/>
            <a:ext cx="1175918" cy="292608"/>
          </a:xfrm>
          <a:prstGeom prst="roundRect">
            <a:avLst>
              <a:gd name="adj" fmla="val 15625"/>
            </a:avLst>
          </a:prstGeom>
          <a:solidFill>
            <a:srgbClr val="EEF1F8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604858" y="3611880"/>
            <a:ext cx="11759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volume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suivi des élections professionnelles CCM — Spelc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5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postes : l'hébergement du serveur, une éventuelle extension de disque, et l'appel à l'API Mistral de l'Assistant IA, dont le coût varie avec le nombre de questions posées.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212140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DEV-S1 (HostPapa)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871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20 $US / mois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077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18–20 €/mois · ≈ 220–240 €/an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36976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VPS d'entrée de gamme : ~2 vCPU, 2 Go RAM, 50–60 Go SSD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Suffisant pour l'usage actuel (API Node + frontend + SQLite)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catalogue public, hors remise 1ʳᵉ année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99432" y="212140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du disque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99432" y="24871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 à 20 $US / mois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9077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d'extension à la carte sur une VPS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236976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changer de palier (ex. 4 vCPU / 4 Go RAM / 100–120 Go SSD)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≈ 35–40 $US/mois au total pour ce palier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Pertinent si les imports zip remplissent le disque actuel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38100" dir="5400000">
              <a:srgbClr val="16213E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02752" y="2121408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(API Mistral)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248716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1 $US / mois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9077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usage courant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3236976"/>
            <a:ext cx="30540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mistral-small-latest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0,15 $ / M tokens entrée · 0,60 $ / M tokens sortie</a:t>
            </a:r>
            <a:endParaRPr lang="en-US" sz="11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2 300 tokens par question en moyenne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553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5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VOLUMÉTRIE — COÛT API MISTRAL ESTIMÉ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846320"/>
          <a:ext cx="10881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6858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Questions / mois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Coût estimé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Contexte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</a:rPr>
                        <a:t>100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232B"/>
                          </a:solidFill>
                        </a:rPr>
                        <a:t>≈ 0,05 $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</a:rPr>
                        <a:t>usage ponctuel, hors période de scrutin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</a:rPr>
                        <a:t>1 000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232B"/>
                          </a:solidFill>
                        </a:rPr>
                        <a:t>≈ 0,50 $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</a:rPr>
                        <a:t>usage régulier d'un admin académique / Spelc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</a:rPr>
                        <a:t>10 000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232B"/>
                          </a:solidFill>
                        </a:rPr>
                        <a:t>≈ 5 $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</a:rPr>
                        <a:t>tous les admins (41 Spelcs + 32 académies) actifs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13E"/>
                          </a:solidFill>
                        </a:rPr>
                        <a:t>50 000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5232B"/>
                          </a:solidFill>
                        </a:rPr>
                        <a:t>≈ 25 $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B6478"/>
                          </a:solidFill>
                        </a:rPr>
                        <a:t>pic pendant le scrutin (3 → 10 décembre 2026)</a:t>
                      </a:r>
                      <a:endParaRPr lang="en-US" sz="1050" dirty="0"/>
                    </a:p>
                  </a:txBody>
                  <a:tcPr marL="127000" marR="127000" marT="25400" marB="25400" anchor="ctr">
                    <a:lnL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40080" y="6263640"/>
            <a:ext cx="10881360" cy="0"/>
          </a:xfrm>
          <a:prstGeom prst="roundRect">
            <a:avLst/>
          </a:prstGeom>
          <a:ln/>
        </p:spPr>
      </p:sp>
      <p:sp>
        <p:nvSpPr>
          <p:cNvPr id="23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suivi des élections professionnelles CCM — Spelc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BUDGÉTAIRE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 à 40 $US / mois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 du serveur DEV-S1, selon le palier de disque retenu — le coût de l'Assistant IA (API Mistral) reste marginal, de quelques centimes à ~25 $ par mois même en période de forte sollicitation.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10149840" cy="2194560"/>
          </a:xfrm>
          <a:prstGeom prst="roundRect">
            <a:avLst>
              <a:gd name="adj" fmla="val 3333"/>
            </a:avLst>
          </a:prstGeom>
          <a:solidFill>
            <a:srgbClr val="1D2740"/>
          </a:solidFill>
          <a:ln w="12700">
            <a:solidFill>
              <a:srgbClr val="2A34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886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À retenir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315968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C9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indicatifs, basés sur les tarifs publics HostPapa et Mistral AI au moment de la rédaction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C9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confirmer avec la facture réelle du serveur DEV-S1 avant toute décision budgétaire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C9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Mistral vérifiable dans l'onglet Assistant (admin général)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C9D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du chatbot reste dans tous les cas marginal comparé à celui de l'hébergement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lcElections">
  <a:themeElements>
    <a:clrScheme name="SpelcElections">
      <a:dk1>
        <a:srgbClr val="16213E"/>
      </a:dk1>
      <a:lt1>
        <a:srgbClr val="FFFFFF"/>
      </a:lt1>
      <a:dk2>
        <a:srgbClr val="1B2A4A"/>
      </a:dk2>
      <a:lt2>
        <a:srgbClr val="EEF1F8"/>
      </a:lt2>
      <a:accent1>
        <a:srgbClr val="B5232B"/>
      </a:accent1>
      <a:accent2>
        <a:srgbClr val="2451C4"/>
      </a:accent2>
      <a:accent3>
        <a:srgbClr val="0D7264"/>
      </a:accent3>
      <a:accent4>
        <a:srgbClr val="87397A"/>
      </a:accent4>
      <a:accent5>
        <a:srgbClr val="B3441F"/>
      </a:accent5>
      <a:accent6>
        <a:srgbClr val="5B6478"/>
      </a:accent6>
      <a:hlink>
        <a:srgbClr val="B5232B"/>
      </a:hlink>
      <a:folHlink>
        <a:srgbClr val="87397A"/>
      </a:folHlink>
    </a:clrScheme>
    <a:fontScheme name="SpelcElections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2026-10-09T06:56:34Z</dcterms:created>
  <dcterms:modified xsi:type="dcterms:W3CDTF">2026-10-09T06:56:34Z</dcterms:modified>
</cp:coreProperties>
</file>